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ma Kumari" userId="e8692590cf0392b3" providerId="LiveId" clId="{5BADF45A-0748-4648-AD44-F9C0ACA622D1}"/>
    <pc:docChg chg="modSld">
      <pc:chgData name="Seema Kumari" userId="e8692590cf0392b3" providerId="LiveId" clId="{5BADF45A-0748-4648-AD44-F9C0ACA622D1}" dt="2026-09-01T17:46:12.599" v="17"/>
      <pc:docMkLst>
        <pc:docMk/>
      </pc:docMkLst>
      <pc:sldChg chg="delSp modSp mod">
        <pc:chgData name="Seema Kumari" userId="e8692590cf0392b3" providerId="LiveId" clId="{5BADF45A-0748-4648-AD44-F9C0ACA622D1}" dt="2026-09-01T17:46:12.599" v="17"/>
        <pc:sldMkLst>
          <pc:docMk/>
          <pc:sldMk cId="0" sldId="267"/>
        </pc:sldMkLst>
        <pc:spChg chg="mod">
          <ac:chgData name="Seema Kumari" userId="e8692590cf0392b3" providerId="LiveId" clId="{5BADF45A-0748-4648-AD44-F9C0ACA622D1}" dt="2026-09-01T17:46:01.053" v="13" actId="1076"/>
          <ac:spMkLst>
            <pc:docMk/>
            <pc:sldMk cId="0" sldId="267"/>
            <ac:spMk id="3" creationId="{00000000-0000-0000-0000-000000000000}"/>
          </ac:spMkLst>
        </pc:spChg>
        <pc:spChg chg="mod">
          <ac:chgData name="Seema Kumari" userId="e8692590cf0392b3" providerId="LiveId" clId="{5BADF45A-0748-4648-AD44-F9C0ACA622D1}" dt="2026-09-01T17:46:09.694" v="15" actId="1076"/>
          <ac:spMkLst>
            <pc:docMk/>
            <pc:sldMk cId="0" sldId="267"/>
            <ac:spMk id="4" creationId="{00000000-0000-0000-0000-000000000000}"/>
          </ac:spMkLst>
        </pc:spChg>
        <pc:spChg chg="del mod">
          <ac:chgData name="Seema Kumari" userId="e8692590cf0392b3" providerId="LiveId" clId="{5BADF45A-0748-4648-AD44-F9C0ACA622D1}" dt="2026-09-01T17:46:12.599" v="17"/>
          <ac:spMkLst>
            <pc:docMk/>
            <pc:sldMk cId="0" sldId="267"/>
            <ac:spMk id="5" creationId="{00000000-0000-0000-0000-000000000000}"/>
          </ac:spMkLst>
        </pc:spChg>
        <pc:picChg chg="mod">
          <ac:chgData name="Seema Kumari" userId="e8692590cf0392b3" providerId="LiveId" clId="{5BADF45A-0748-4648-AD44-F9C0ACA622D1}" dt="2026-09-01T17:46:05.345" v="14" actId="1076"/>
          <ac:picMkLst>
            <pc:docMk/>
            <pc:sldMk cId="0" sldId="267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09454"/>
            <a:ext cx="2633662" cy="847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612" y="4209454"/>
            <a:ext cx="2633662" cy="847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725" y="4209454"/>
            <a:ext cx="2633662" cy="847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6837" y="4209454"/>
            <a:ext cx="2633662" cy="8477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8606" y="1800820"/>
            <a:ext cx="4014787" cy="276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0580" y="2229445"/>
            <a:ext cx="6710838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600" b="1" i="0" u="none">
                <a:solidFill>
                  <a:srgbClr val="2B111E"/>
                </a:solidFill>
                <a:latin typeface="Playfair Display"/>
              </a:rPr>
              <a:t>Sephora Skincare Commercial</a:t>
            </a:r>
            <a:r>
              <a:t>
</a:t>
            </a:r>
            <a:r>
              <a:rPr sz="3600" b="1" i="0" u="none">
                <a:solidFill>
                  <a:srgbClr val="2B111E"/>
                </a:solidFill>
                <a:latin typeface="Playfair Display"/>
              </a:rPr>
              <a:t> &amp; Customer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5000" y="3414117"/>
            <a:ext cx="8382000" cy="471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56"/>
              </a:lnSpc>
            </a:pPr>
            <a:r>
              <a:rPr sz="1237" b="0" i="0" u="none">
                <a:solidFill>
                  <a:srgbClr val="4A454E"/>
                </a:solidFill>
                <a:latin typeface="Plus Jakarta Sans"/>
              </a:rPr>
              <a:t>An end-to-end data analytics and decision-support suite evaluating 2,351 SKUs and 1,094,411 customer reviews to isolate quality risk, brand dependency, and assortment pricing elasticity.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371379"/>
            <a:ext cx="23860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25" b="1" i="0" u="none">
                <a:solidFill>
                  <a:srgbClr val="60162E"/>
                </a:solidFill>
                <a:latin typeface="Playfair Display"/>
              </a:rPr>
              <a:t>$192.54M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4752379"/>
            <a:ext cx="23860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C6368"/>
                </a:solidFill>
                <a:latin typeface="Plus Jakarta Sans SemiBold"/>
              </a:rPr>
              <a:t>CATALOG REVENUE PROXY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437" y="4371379"/>
            <a:ext cx="23860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25" b="1" i="0" u="none">
                <a:solidFill>
                  <a:srgbClr val="60162E"/>
                </a:solidFill>
                <a:latin typeface="Playfair Display"/>
              </a:rPr>
              <a:t>1.09M+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437" y="4752379"/>
            <a:ext cx="23860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C6368"/>
                </a:solidFill>
                <a:latin typeface="Plus Jakarta Sans SemiBold"/>
              </a:rPr>
              <a:t>VERIFIED REVIEWS INGESTED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5550" y="4371379"/>
            <a:ext cx="23860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25" b="1" i="0" u="none">
                <a:solidFill>
                  <a:srgbClr val="60162E"/>
                </a:solidFill>
                <a:latin typeface="Playfair Display"/>
              </a:rPr>
              <a:t>40.89%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550" y="4752379"/>
            <a:ext cx="23860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C6368"/>
                </a:solidFill>
                <a:latin typeface="Plus Jakarta Sans SemiBold"/>
              </a:rPr>
              <a:t>TOP 10 BRAND REVENUE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0662" y="4371379"/>
            <a:ext cx="23860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25" b="1" i="0" u="none">
                <a:solidFill>
                  <a:srgbClr val="60162E"/>
                </a:solidFill>
                <a:latin typeface="Playfair Display"/>
              </a:rPr>
              <a:t>$6.27M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0662" y="4752379"/>
            <a:ext cx="238601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C6368"/>
                </a:solidFill>
                <a:latin typeface="Plus Jakarta Sans SemiBold"/>
              </a:rPr>
              <a:t>QUALITY RISK ISOLATED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7918"/>
            <a:ext cx="5372100" cy="27003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397918"/>
            <a:ext cx="5372100" cy="27003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3950" y="2636043"/>
            <a:ext cx="4770596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60162E"/>
                </a:solidFill>
                <a:latin typeface="Playfair Display"/>
              </a:rPr>
              <a:t>Quality &amp; Churn Exposure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2959893"/>
            <a:ext cx="48196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A454E"/>
                </a:solidFill>
                <a:latin typeface="Plus Jakarta Sans"/>
              </a:rPr>
              <a:t>Catalog aggregate ratings (4.30★) conceal severe product failure among high-traffic SKUs, threatening customer lifetime value and platform trust: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0" y="2636043"/>
            <a:ext cx="4750593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60162E"/>
                </a:solidFill>
                <a:latin typeface="Playfair Display"/>
              </a:rPr>
              <a:t>Concentration &amp; Pricing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2959893"/>
            <a:ext cx="48196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A454E"/>
                </a:solidFill>
                <a:latin typeface="Plus Jakarta Sans"/>
              </a:rPr>
              <a:t>High supplier dependency and unoptimized price tiers leave gross margin on the table across seasonal assortment cycles: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669381"/>
            <a:ext cx="180975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8225" y="3717131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A454E"/>
                </a:solidFill>
                <a:latin typeface="Plus Jakarta Sans"/>
              </a:rPr>
              <a:t>Which high-volume SKUs exhibit severe customer dissatisfaction?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026693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A454E"/>
                </a:solidFill>
                <a:latin typeface="Plus Jakarta Sans"/>
              </a:rPr>
              <a:t>How much revenue is tied directly to items scoring under 3.50★?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4336256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A454E"/>
                </a:solidFill>
                <a:latin typeface="Plus Jakarta Sans"/>
              </a:rPr>
              <a:t>Which out-of-stock items risk automatic procurement re-orders?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669381"/>
            <a:ext cx="200025" cy="1809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15125" y="3502818"/>
            <a:ext cx="4629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A454E"/>
                </a:solidFill>
                <a:latin typeface="Plus Jakarta Sans"/>
              </a:rPr>
              <a:t>How concentrated is platform revenue among top supplier anchors?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4026693"/>
            <a:ext cx="4629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A454E"/>
                </a:solidFill>
                <a:latin typeface="Plus Jakarta Sans"/>
              </a:rPr>
              <a:t>Do Limited Edition drops sustain pricing elasticity without rating loss?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4550568"/>
            <a:ext cx="462915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A454E"/>
                </a:solidFill>
                <a:latin typeface="Plus Jakarta Sans"/>
              </a:rPr>
              <a:t>Which price tier generates maximum commercial revenue yield?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707606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98A58"/>
                </a:solidFill>
                <a:latin typeface="Plus Jakarta Sans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017168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98A58"/>
                </a:solidFill>
                <a:latin typeface="Plus Jakarta Sans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326731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98A58"/>
                </a:solidFill>
                <a:latin typeface="Plus Jakarta Sans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3493293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98A58"/>
                </a:solidFill>
                <a:latin typeface="Plus Jakarta Sans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4017168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98A58"/>
                </a:solidFill>
                <a:latin typeface="Plus Jakarta Sans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5" y="4541043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98A58"/>
                </a:solidFill>
                <a:latin typeface="Plus Jakarta Sans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B111E"/>
                </a:solidFill>
                <a:latin typeface="Playfair Display"/>
              </a:rPr>
              <a:t>Executive Problem &amp;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9356"/>
            <a:ext cx="3555950" cy="25574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469356"/>
            <a:ext cx="3555950" cy="25574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469356"/>
            <a:ext cx="3556099" cy="25574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707481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298031"/>
            <a:ext cx="323368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111E"/>
                </a:solidFill>
                <a:latin typeface="Playfair Display"/>
              </a:rPr>
              <a:t>1. Ingestion (Python)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602831"/>
            <a:ext cx="30797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A454E"/>
                </a:solidFill>
                <a:latin typeface="Plus Jakarta Sans"/>
              </a:rPr>
              <a:t>Extracted and cleaned 1,094,411 partitioned raw review records. Handled missing categorical values, normalized text fields, and transformed datetimes to standard ISO format.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075" y="2707481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6075" y="3298031"/>
            <a:ext cx="323368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111E"/>
                </a:solidFill>
                <a:latin typeface="Playfair Display"/>
              </a:rPr>
              <a:t>2. Modeling (PostgreSQL)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075" y="3602831"/>
            <a:ext cx="307970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A454E"/>
                </a:solidFill>
                <a:latin typeface="Plus Jakarta Sans"/>
              </a:rPr>
              <a:t>Engineered relational schemas across 2,351 catalog SKUs. Executed 13 core business rules (BR-01 to BR-08) covering pricing elasticity, Pareto curves, and quality thresholds.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525" y="2707481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02525" y="3298031"/>
            <a:ext cx="323384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B111E"/>
                </a:solidFill>
                <a:latin typeface="Playfair Display"/>
              </a:rPr>
              <a:t>3. Reporting (Power BI)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3602831"/>
            <a:ext cx="307984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A454E"/>
                </a:solidFill>
                <a:latin typeface="Plus Jakarta Sans"/>
              </a:rPr>
              <a:t>Authored DAX measures mirroring backend SQL queries 1:1. Built an interactive 3-page reporting suite with zero reconciliation discrepancies between SQL and front-end visuals.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12" y="2821781"/>
            <a:ext cx="20002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4662" y="2821781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6825" y="2821781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B111E"/>
                </a:solidFill>
                <a:latin typeface="Playfair Display"/>
              </a:rPr>
              <a:t>Data Engineering &amp; Validation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14425"/>
            <a:ext cx="11049000" cy="5267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457700"/>
            <a:ext cx="11049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1" u="none">
                <a:solidFill>
                  <a:srgbClr val="4A454E"/>
                </a:solidFill>
                <a:latin typeface="Plus Jakarta Sans"/>
              </a:rPr>
              <a:t>Key Diagnosis: Moisturizers and Treatments drive 56%+ of platform sales ($109M), but Cleansers suffers from elevated churn (66.3% advocacy), while High Tech Tools yields high revenue per SKU due to premium unit price realization.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B111E"/>
                </a:solidFill>
                <a:latin typeface="Playfair Display"/>
              </a:rPr>
              <a:t>Macro Sub-Category Revenue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37271"/>
            <a:ext cx="3867150" cy="162163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550" y="2388393"/>
            <a:ext cx="6838950" cy="27193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625" y="3289696"/>
            <a:ext cx="3390900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sz="5100" b="1" i="0" u="none">
                <a:solidFill>
                  <a:srgbClr val="60162E"/>
                </a:solidFill>
                <a:latin typeface="Playfair Display"/>
              </a:rPr>
              <a:t>40.89%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4013596"/>
            <a:ext cx="3390900" cy="1928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8"/>
              </a:lnSpc>
            </a:pPr>
            <a:r>
              <a:rPr sz="1012" b="0" i="0" u="none">
                <a:solidFill>
                  <a:srgbClr val="6C6368"/>
                </a:solidFill>
                <a:latin typeface="Plus Jakarta Sans SemiBold"/>
              </a:rPr>
              <a:t>TOP 10 BRAND REVENUE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5875" y="2664618"/>
            <a:ext cx="652081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2B111E"/>
                </a:solidFill>
                <a:latin typeface="Playfair Display"/>
              </a:rPr>
              <a:t>High Dependency on Anchor Vendors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5875" y="2988468"/>
            <a:ext cx="62103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A454E"/>
                </a:solidFill>
                <a:latin typeface="Plus Jakarta Sans"/>
              </a:rPr>
              <a:t>The top 10 brands generate </a:t>
            </a:r>
            <a:r>
              <a:rPr sz="1125" b="1" i="0" u="none">
                <a:solidFill>
                  <a:srgbClr val="4A454E"/>
                </a:solidFill>
                <a:latin typeface="Plus Jakarta Sans"/>
              </a:rPr>
              <a:t>$78.74M</a:t>
            </a:r>
            <a:r>
              <a:rPr sz="1125" b="0" i="0" u="none">
                <a:solidFill>
                  <a:srgbClr val="4A454E"/>
                </a:solidFill>
                <a:latin typeface="Plus Jakarta Sans"/>
              </a:rPr>
              <a:t> of total platform revenue proxy, creating significant operational and commercial exposure: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5875" y="3531393"/>
            <a:ext cx="62103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454E"/>
                </a:solidFill>
                <a:latin typeface="Plus Jakarta Sans"/>
              </a:rPr>
              <a:t>• Volume vs. Luxury Drivers:</a:t>
            </a:r>
            <a:r>
              <a:rPr sz="1125" b="0" i="0" u="none">
                <a:solidFill>
                  <a:srgbClr val="4A454E"/>
                </a:solidFill>
                <a:latin typeface="Plus Jakarta Sans"/>
              </a:rPr>
              <a:t> La Mer ($13.4M) leads through high average ticket prices ($320+), whereas Drunk Elephant ($11.6M) and Tatcha ($10.1M) scale via mass-market review velocity.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5875" y="4288631"/>
            <a:ext cx="62103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454E"/>
                </a:solidFill>
                <a:latin typeface="Plus Jakarta Sans"/>
              </a:rPr>
              <a:t>• Commercial Decision:</a:t>
            </a:r>
            <a:r>
              <a:rPr sz="1125" b="0" i="0" u="none">
                <a:solidFill>
                  <a:srgbClr val="4A454E"/>
                </a:solidFill>
                <a:latin typeface="Plus Jakarta Sans"/>
              </a:rPr>
              <a:t> Expand incubation partnerships in the $25–$100 tier to build secondary revenue anchors and de-risk single-vendor disruptions.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B111E"/>
                </a:solidFill>
                <a:latin typeface="Playfair Display"/>
              </a:rPr>
              <a:t>Brand Concentration &amp; Pareto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14425"/>
            <a:ext cx="11049000" cy="5267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210050"/>
            <a:ext cx="11049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1" u="none">
                <a:solidFill>
                  <a:srgbClr val="4A454E"/>
                </a:solidFill>
                <a:latin typeface="Plus Jakarta Sans"/>
              </a:rPr>
              <a:t>Pricing Finding: Limited Edition SKUs command higher prices without sentiment decay, while the $50–$100 Premium Tier generates the largest revenue volume ($78M), validating aggressive expansion of high-margin seasonal drops.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B111E"/>
                </a:solidFill>
                <a:latin typeface="Playfair Display"/>
              </a:rPr>
              <a:t>Assortment Pricing Elasticity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2700"/>
            <a:ext cx="5372100" cy="2390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552700"/>
            <a:ext cx="5372100" cy="23907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23950" y="2790825"/>
            <a:ext cx="4770596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60162E"/>
                </a:solidFill>
                <a:latin typeface="Playfair Display"/>
              </a:rPr>
              <a:t>44 Attention SKUs Isolated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114675"/>
            <a:ext cx="48196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A454E"/>
                </a:solidFill>
                <a:latin typeface="Plus Jakarta Sans"/>
              </a:rPr>
              <a:t>Applying business rule BR-07 (Rating &lt; 3.50, Reviews &gt; 50) isolates underperforming items that damage category health: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9900" y="2790825"/>
            <a:ext cx="4750593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25" b="1" i="0" u="none">
                <a:solidFill>
                  <a:srgbClr val="60162E"/>
                </a:solidFill>
                <a:latin typeface="Playfair Display"/>
              </a:rPr>
              <a:t>Immediate Procurement 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114675"/>
            <a:ext cx="48196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A454E"/>
                </a:solidFill>
                <a:latin typeface="Plus Jakarta Sans"/>
              </a:rPr>
              <a:t>Stockout analysis intersects directly with quality failure, creating a clear operational intervention point: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824162"/>
            <a:ext cx="180975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38225" y="3657600"/>
            <a:ext cx="4629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454E"/>
                </a:solidFill>
                <a:latin typeface="Plus Jakarta Sans"/>
              </a:rPr>
              <a:t>$6.27M Revenue Proxy Exposed:</a:t>
            </a:r>
            <a:r>
              <a:rPr sz="1125" b="0" i="0" u="none">
                <a:solidFill>
                  <a:srgbClr val="4A454E"/>
                </a:solidFill>
                <a:latin typeface="Plus Jakarta Sans"/>
              </a:rPr>
              <a:t> Direct commercial sales tied to failing formulations.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181475"/>
            <a:ext cx="4629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454E"/>
                </a:solidFill>
                <a:latin typeface="Plus Jakarta Sans"/>
              </a:rPr>
              <a:t>13.32K Negative Reviews:</a:t>
            </a:r>
            <a:r>
              <a:rPr sz="1125" b="0" i="0" u="none">
                <a:solidFill>
                  <a:srgbClr val="4A454E"/>
                </a:solidFill>
                <a:latin typeface="Plus Jakarta Sans"/>
              </a:rPr>
              <a:t> High customer exposure driving platform churn and product return overhead.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824162"/>
            <a:ext cx="200025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15125" y="3657600"/>
            <a:ext cx="4629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454E"/>
                </a:solidFill>
                <a:latin typeface="Plus Jakarta Sans"/>
              </a:rPr>
              <a:t>5 Flagged SKUs Out-of-Stock:</a:t>
            </a:r>
            <a:r>
              <a:rPr sz="1125" b="0" i="0" u="none">
                <a:solidFill>
                  <a:srgbClr val="4A454E"/>
                </a:solidFill>
                <a:latin typeface="Plus Jakarta Sans"/>
              </a:rPr>
              <a:t> Currently out of stock, preventing automatic replenishment.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4181475"/>
            <a:ext cx="4629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A454E"/>
                </a:solidFill>
                <a:latin typeface="Plus Jakarta Sans"/>
              </a:rPr>
              <a:t>Action Mandate:</a:t>
            </a:r>
            <a:r>
              <a:rPr sz="1125" b="0" i="0" u="none">
                <a:solidFill>
                  <a:srgbClr val="4A454E"/>
                </a:solidFill>
                <a:latin typeface="Plus Jakarta Sans"/>
              </a:rPr>
              <a:t> Enforce mandatory quality &amp; PDP audits prior to issuing new purchase orders.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64807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98A58"/>
                </a:solidFill>
                <a:latin typeface="Plus Jakarta Sans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171950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98A58"/>
                </a:solidFill>
                <a:latin typeface="Plus Jakarta Sans"/>
              </a:rPr>
              <a:t>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3648075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98A58"/>
                </a:solidFill>
                <a:latin typeface="Plus Jakarta Sans"/>
              </a:rP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4171950"/>
            <a:ext cx="57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98A58"/>
                </a:solidFill>
                <a:latin typeface="Plus Jakarta Sans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B111E"/>
                </a:solidFill>
                <a:latin typeface="Playfair Display"/>
              </a:rPr>
              <a:t>Product Quality &amp; Revenue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14425"/>
            <a:ext cx="11049000" cy="5267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933950"/>
            <a:ext cx="11049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1" u="none">
                <a:solidFill>
                  <a:srgbClr val="4A454E"/>
                </a:solidFill>
                <a:latin typeface="Plus Jakarta Sans"/>
              </a:rPr>
              <a:t>Demand Analysis: Q1 represents the primary skincare demand surge ($56M proxy) driven by post-holiday routine resets, requiring procurement schedules to align inventory build in late Q4.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B111E"/>
                </a:solidFill>
                <a:latin typeface="Playfair Display"/>
              </a:rPr>
              <a:t>Quarterly Demand Seasonality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35981"/>
            <a:ext cx="11049000" cy="322421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145506"/>
          <a:ext cx="11029949" cy="3205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3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1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1032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ayfair Display SemiBold"/>
                        </a:rPr>
                        <a:t>Strategic Pillar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016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ayfair Display SemiBold"/>
                        </a:rPr>
                        <a:t>Target Commercial Decision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016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layfair Display SemiBold"/>
                        </a:rPr>
                        <a:t>Measurable Business 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016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03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Quality Remediation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Audit formulations and product page descriptions on 44 Attention SKUs.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Ring-fences </a:t>
                      </a:r>
                      <a:r>
                        <a:rPr sz="1125" b="1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$6.27M</a:t>
                      </a:r>
                      <a:r>
                        <a:rPr sz="1125" b="0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 in revenue proxy and reduces customer returns.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03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Procurement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Enforce immediate purchase order holds on 5 out-of-stock low-rated items.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Prevents replenishing inventory with confirmed formula/packaging defects.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032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Assortment Scaling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Expand vendor onboarding in the $50–$100 Tier and scale limited drops.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Captures higher unit gross margin backed by </a:t>
                      </a:r>
                      <a:r>
                        <a:rPr sz="1125" b="1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$57.18</a:t>
                      </a:r>
                      <a:r>
                        <a:rPr sz="1125" b="0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 price elasticity.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034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Supply Chain Timing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Front-load inventory buffer and warehouse capacity for peak Q1 demand.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4A454E"/>
                          </a:solidFill>
                          <a:latin typeface="Plus Jakarta Sans"/>
                        </a:rPr>
                        <a:t>Captures 329K review demand surge and eliminates seasonal stockouts.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602706"/>
            <a:ext cx="1674465" cy="9525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55490" y="2602706"/>
            <a:ext cx="4653855" cy="9525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09345" y="2602706"/>
            <a:ext cx="4701629" cy="9525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288506"/>
            <a:ext cx="1674465" cy="9525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55490" y="3288506"/>
            <a:ext cx="4653855" cy="9525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09345" y="3288506"/>
            <a:ext cx="4701629" cy="9525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1025" y="3974306"/>
            <a:ext cx="1674465" cy="9525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55490" y="3974306"/>
            <a:ext cx="4653855" cy="9525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09345" y="3974306"/>
            <a:ext cx="4701629" cy="9525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660106"/>
            <a:ext cx="1674465" cy="9525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55490" y="4660106"/>
            <a:ext cx="4653855" cy="9525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09345" y="4660106"/>
            <a:ext cx="4701629" cy="9525"/>
          </a:xfrm>
          <a:prstGeom prst="rect">
            <a:avLst/>
          </a:prstGeom>
          <a:solidFill>
            <a:srgbClr val="F0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B111E"/>
                </a:solidFill>
                <a:latin typeface="Playfair Display"/>
              </a:rPr>
              <a:t>Strategic Decision 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714625"/>
            <a:ext cx="5457825" cy="966787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 w="9525">
            <a:solidFill>
              <a:srgbClr val="EB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8700" y="2867025"/>
            <a:ext cx="4829175" cy="661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60162E"/>
                </a:solidFill>
                <a:latin typeface="Plus Jakarta Sans"/>
              </a:rPr>
              <a:t>$6.27M Protected:</a:t>
            </a:r>
            <a:r>
              <a:rPr sz="1125" b="0" i="0" u="none">
                <a:solidFill>
                  <a:srgbClr val="4A454E"/>
                </a:solidFill>
                <a:latin typeface="Plus Jakarta Sans"/>
              </a:rPr>
              <a:t> Eliminating failing formulations protects recurring revenue, prevents customer churn, and lowers return processing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2675" y="2714625"/>
            <a:ext cx="5457825" cy="966787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 w="9525">
            <a:solidFill>
              <a:srgbClr val="EB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19875" y="2867025"/>
            <a:ext cx="4829175" cy="661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60162E"/>
                </a:solidFill>
                <a:latin typeface="Plus Jakarta Sans"/>
              </a:rPr>
              <a:t>+4.2% Margin Expansion:</a:t>
            </a:r>
            <a:r>
              <a:rPr sz="1125" b="0" i="0" u="none">
                <a:solidFill>
                  <a:srgbClr val="4A454E"/>
                </a:solidFill>
                <a:latin typeface="Plus Jakarta Sans"/>
              </a:rPr>
              <a:t> Scaling Limited Edition items leverages proven pricing power ($57.18 vs. $55.58) to lift seasonal basket profitability.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3814762"/>
            <a:ext cx="5457825" cy="966787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 w="9525">
            <a:solidFill>
              <a:srgbClr val="EB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8700" y="3967162"/>
            <a:ext cx="4829175" cy="661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60162E"/>
                </a:solidFill>
                <a:latin typeface="Plus Jakarta Sans"/>
              </a:rPr>
              <a:t>$78M Sweet Spot Yield:</a:t>
            </a:r>
            <a:r>
              <a:rPr sz="1125" b="0" i="0" u="none">
                <a:solidFill>
                  <a:srgbClr val="4A454E"/>
                </a:solidFill>
                <a:latin typeface="Plus Jakarta Sans"/>
              </a:rPr>
              <a:t> Focusing new brand partnerships on the $50–$100 price tier aligns catalog curation with peak consumer willingness-to-pay.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2675" y="3814762"/>
            <a:ext cx="5457825" cy="966787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 w="9525">
            <a:solidFill>
              <a:srgbClr val="EBDC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19875" y="3967162"/>
            <a:ext cx="4829175" cy="661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60162E"/>
                </a:solidFill>
                <a:latin typeface="Plus Jakarta Sans"/>
              </a:rPr>
              <a:t>Zero Stockout Slippage:</a:t>
            </a:r>
            <a:r>
              <a:rPr sz="1125" b="0" i="0" u="none">
                <a:solidFill>
                  <a:srgbClr val="4A454E"/>
                </a:solidFill>
                <a:latin typeface="Plus Jakarta Sans"/>
              </a:rPr>
              <a:t> Aligning supply chain lead times ahead of Q1 demand captures an estimated $8M+ in unfulfilled post-holiday demand.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3671887"/>
            <a:ext cx="5457825" cy="9525"/>
          </a:xfrm>
          <a:prstGeom prst="rect">
            <a:avLst/>
          </a:prstGeom>
          <a:solidFill>
            <a:srgbClr val="EB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62675" y="3671887"/>
            <a:ext cx="5457825" cy="9525"/>
          </a:xfrm>
          <a:prstGeom prst="rect">
            <a:avLst/>
          </a:prstGeom>
          <a:solidFill>
            <a:srgbClr val="EB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772025"/>
            <a:ext cx="5457825" cy="9525"/>
          </a:xfrm>
          <a:prstGeom prst="rect">
            <a:avLst/>
          </a:prstGeom>
          <a:solidFill>
            <a:srgbClr val="EB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62675" y="4772025"/>
            <a:ext cx="5457825" cy="9525"/>
          </a:xfrm>
          <a:prstGeom prst="rect">
            <a:avLst/>
          </a:prstGeom>
          <a:solidFill>
            <a:srgbClr val="EB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890837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2890837"/>
            <a:ext cx="21907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990975"/>
            <a:ext cx="21907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650" y="3990975"/>
            <a:ext cx="238125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B111E"/>
                </a:solidFill>
                <a:latin typeface="Playfair Display"/>
              </a:rPr>
              <a:t>Financial ROI &amp; Value Creation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957637"/>
            <a:ext cx="2541240" cy="11007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437804"/>
            <a:ext cx="2541240" cy="11007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3957637"/>
            <a:ext cx="2541240" cy="11007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264568"/>
            <a:ext cx="2541240" cy="12739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29037"/>
            <a:ext cx="11049000" cy="28575"/>
          </a:xfrm>
          <a:prstGeom prst="rect">
            <a:avLst/>
          </a:prstGeom>
          <a:solidFill>
            <a:srgbClr val="EBD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7990" y="4119562"/>
            <a:ext cx="232825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60162E"/>
                </a:solidFill>
                <a:latin typeface="Playfair Display"/>
              </a:rPr>
              <a:t>Days 1–15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376737"/>
            <a:ext cx="221739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4A454E"/>
                </a:solidFill>
                <a:latin typeface="Plus Jakarta Sans"/>
              </a:rPr>
              <a:t>Enforce immediate procurement holds on 5 out-of-stock Attention SKUs and notify vendor managers.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910" y="2599729"/>
            <a:ext cx="232825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60162E"/>
                </a:solidFill>
                <a:latin typeface="Playfair Display"/>
              </a:rPr>
              <a:t>Days 16–45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9344" y="2856904"/>
            <a:ext cx="221739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4A454E"/>
                </a:solidFill>
                <a:latin typeface="Plus Jakarta Sans"/>
              </a:rPr>
              <a:t>Conduct root-cause formula and PDP audits across the 44 low-rated items scoring under 3.50★.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30" y="4119562"/>
            <a:ext cx="232825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60162E"/>
                </a:solidFill>
                <a:latin typeface="Playfair Display"/>
              </a:rPr>
              <a:t>Days 46–75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5264" y="4376737"/>
            <a:ext cx="221739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4A454E"/>
                </a:solidFill>
                <a:latin typeface="Plus Jakarta Sans"/>
              </a:rPr>
              <a:t>Restructure seasonal drops and scale SKU onboarding in the high-yield $50–$100 Premium Tier.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5750" y="2426493"/>
            <a:ext cx="232825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60162E"/>
                </a:solidFill>
                <a:latin typeface="Playfair Display"/>
              </a:rPr>
              <a:t>Days 76–90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1184" y="2683668"/>
            <a:ext cx="22173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975" b="0" i="0" u="none">
                <a:solidFill>
                  <a:srgbClr val="4A454E"/>
                </a:solidFill>
                <a:latin typeface="Plus Jakarta Sans"/>
              </a:rPr>
              <a:t>Rebalance Q4/Q1 inventory purchasing models to eliminate stockouts during the peak demand surge.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B111E"/>
                </a:solidFill>
                <a:latin typeface="Playfair Display"/>
              </a:rPr>
              <a:t>90-Day Operational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56395" y="36623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01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92315" y="36623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01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28234" y="36623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01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64154" y="366236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6016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36" y="2393540"/>
            <a:ext cx="116014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 dirty="0">
                <a:solidFill>
                  <a:srgbClr val="2B111E"/>
                </a:solidFill>
                <a:latin typeface="Playfair Display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186" y="3050765"/>
            <a:ext cx="110490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 dirty="0">
                <a:solidFill>
                  <a:srgbClr val="4A454E"/>
                </a:solidFill>
                <a:latin typeface="Plus Jakarta Sans"/>
              </a:rPr>
              <a:t>Thank you for your time. All SQL scripts, data validation models, and Power BI dashboards are fully documented and production-ready.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924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Playfair Display</vt:lpstr>
      <vt:lpstr>Playfair Display SemiBold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Seema Kumari</dc:creator>
  <cp:keywords/>
  <dc:description>generated using python-pptx</dc:description>
  <cp:lastModifiedBy>Seema Kumari</cp:lastModifiedBy>
  <cp:revision>1</cp:revision>
  <dcterms:created xsi:type="dcterms:W3CDTF">2013-01-27T09:14:16Z</dcterms:created>
  <dcterms:modified xsi:type="dcterms:W3CDTF">2026-09-01T17:46:15Z</dcterms:modified>
  <cp:category/>
</cp:coreProperties>
</file>